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8"/>
    <p:sldId id="269" r:id="rId19"/>
  </p:sldIdLst>
  <p:sldSz cy="5143500" cx="9144000"/>
  <p:notesSz cx="51435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EFFA54-550C-4120-857A-8A6ACE27388F}">
  <a:tblStyle styleId="{F7EFFA54-550C-4120-857A-8A6ACE273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28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106c98c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106c98c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106c98cf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06c98cf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106c98cf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106c98cfe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06c98cfe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d106c98cfe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106c98cfe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" name="Google Shape;5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0" y="3200400"/>
            <a:ext cx="9144000" cy="639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5029200" y="274320"/>
            <a:ext cx="530400" cy="347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502920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AAPL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623560" y="274320"/>
            <a:ext cx="530400" cy="347400"/>
          </a:xfrm>
          <a:prstGeom prst="rect">
            <a:avLst/>
          </a:prstGeom>
          <a:solidFill>
            <a:srgbClr val="43A047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562356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MSFT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217920" y="274320"/>
            <a:ext cx="530400" cy="347400"/>
          </a:xfrm>
          <a:prstGeom prst="rect">
            <a:avLst/>
          </a:prstGeom>
          <a:solidFill>
            <a:srgbClr val="FFD54F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621792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NVDA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812280" y="274320"/>
            <a:ext cx="530400" cy="347400"/>
          </a:xfrm>
          <a:prstGeom prst="rect">
            <a:avLst/>
          </a:prstGeom>
          <a:solidFill>
            <a:srgbClr val="00BCD4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681228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GOOGL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406640" y="274320"/>
            <a:ext cx="530400" cy="347400"/>
          </a:xfrm>
          <a:prstGeom prst="rect">
            <a:avLst/>
          </a:prstGeom>
          <a:solidFill>
            <a:srgbClr val="FFA72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40664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AMZN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001000" y="274320"/>
            <a:ext cx="530400" cy="347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800100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8595360" y="274320"/>
            <a:ext cx="530400" cy="347400"/>
          </a:xfrm>
          <a:prstGeom prst="rect">
            <a:avLst/>
          </a:prstGeom>
          <a:solidFill>
            <a:srgbClr val="E53935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8595360" y="274320"/>
            <a:ext cx="53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TSLA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57195" y="71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8BA3BC"/>
                </a:solidFill>
                <a:latin typeface="Calibri"/>
                <a:ea typeface="Calibri"/>
                <a:cs typeface="Calibri"/>
                <a:sym typeface="Calibri"/>
              </a:rPr>
              <a:t>Predicting the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02920" y="157276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Magnificent Seven</a:t>
            </a:r>
            <a:r>
              <a:rPr b="1" lang="en-US" sz="5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: the tech giants in U.S. equity market</a:t>
            </a:r>
            <a:endParaRPr b="0" i="0" sz="5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019520" y="3932715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DATASCI 223  ·  Final Project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8BA3B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Group: Sin U Choi, Joshua Guo</a:t>
            </a:r>
            <a:endParaRPr sz="120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C"/>
              </a:buClr>
              <a:buSzPts val="1200"/>
              <a:buFont typeface="Calibri"/>
              <a:buNone/>
            </a:pPr>
            <a:r>
              <a:rPr b="1" lang="en-US" sz="1100">
                <a:solidFill>
                  <a:schemeClr val="dk2"/>
                </a:solidFill>
              </a:rPr>
              <a:t>AI Disclosure:</a:t>
            </a:r>
            <a:r>
              <a:rPr lang="en-US" sz="1100">
                <a:solidFill>
                  <a:schemeClr val="dk2"/>
                </a:solidFill>
              </a:rPr>
              <a:t xml:space="preserve"> Claude was used to assist with code debugging, feature engineering logic (specifically for price-relative transforms), and refining the project documentation. All final code was reviewed and tested by the project team.</a:t>
            </a:r>
            <a:endParaRPr sz="120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411480" y="20116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Research Question:</a:t>
            </a:r>
            <a:endParaRPr b="0" i="0" sz="26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74320" y="201168"/>
            <a:ext cx="63900" cy="5028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365760" y="868680"/>
            <a:ext cx="8412600" cy="10059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94360" y="896112"/>
            <a:ext cx="7955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Can </a:t>
            </a:r>
            <a:r>
              <a:rPr i="1" lang="en-US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an ML-integrated model</a:t>
            </a:r>
            <a:r>
              <a:rPr b="0" i="1" lang="en-US" sz="1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trained across all Magnificent Seven stocks predict next-day returns as well as — or better than — models trained on each stock individually?</a:t>
            </a:r>
            <a:endParaRPr b="0" i="0" sz="1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74320" y="2011680"/>
            <a:ext cx="2743200" cy="26517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274320" y="2011680"/>
            <a:ext cx="2743200" cy="54900"/>
          </a:xfrm>
          <a:prstGeom prst="rect">
            <a:avLst/>
          </a:prstGeom>
          <a:solidFill>
            <a:srgbClr val="E53935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438912" y="2121408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Stock prices are noisy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38912" y="2468880"/>
            <a:ext cx="24690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Daily prices are driven by news, sentiment, and macro events that no model can fully anticipate</a:t>
            </a: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—making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prediction genuinely hard.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172968" y="2011680"/>
            <a:ext cx="2743200" cy="26517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172968" y="2011680"/>
            <a:ext cx="2743200" cy="54900"/>
          </a:xfrm>
          <a:prstGeom prst="rect">
            <a:avLst/>
          </a:prstGeom>
          <a:solidFill>
            <a:srgbClr val="FFD54F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3337560" y="2121408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Individual vs. shared patterns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337560" y="2468880"/>
            <a:ext cx="24690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Mag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7 stocks are correlated</a:t>
            </a: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—they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move together. Does training on all 7 help a model generalize, or does specialization win?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071616" y="2011680"/>
            <a:ext cx="2743200" cy="26517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071616" y="2011680"/>
            <a:ext cx="2743200" cy="54900"/>
          </a:xfrm>
          <a:prstGeom prst="rect">
            <a:avLst/>
          </a:prstGeom>
          <a:solidFill>
            <a:srgbClr val="43A047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236208" y="2121408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0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3A047"/>
                </a:solidFill>
                <a:latin typeface="Calibri"/>
                <a:ea typeface="Calibri"/>
                <a:cs typeface="Calibri"/>
                <a:sym typeface="Calibri"/>
              </a:rPr>
              <a:t>Fair evaluation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236208" y="2468880"/>
            <a:ext cx="24690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R² on price looks impressive but is misleading. We need honest metrics: return-level R², directional accuracy, and MAE.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411480" y="20116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Existing Work We Built On</a:t>
            </a:r>
            <a:endParaRPr b="0" i="0" sz="26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74320" y="201168"/>
            <a:ext cx="63900" cy="5028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320040" y="960120"/>
            <a:ext cx="4023300" cy="1783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320040" y="960120"/>
            <a:ext cx="63900" cy="17832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02920" y="109728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yfinance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02920" y="1463040"/>
            <a:ext cx="37491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Open-source Python library for pulling historical OHLCV data from Yahoo Finance. Standard tool in academic stock analysis.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663440" y="960120"/>
            <a:ext cx="4023300" cy="1783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663440" y="960120"/>
            <a:ext cx="63900" cy="1783200"/>
          </a:xfrm>
          <a:prstGeom prst="rect">
            <a:avLst/>
          </a:prstGeom>
          <a:solidFill>
            <a:srgbClr val="FFD54F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4846320" y="109728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Technical Indicators</a:t>
            </a:r>
            <a:endParaRPr b="0" i="0" sz="1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846320" y="1463040"/>
            <a:ext cx="37491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EMA, RSI, MACD are established signal tools from technical analysis literature used widely in quant finance.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20040" y="2971800"/>
            <a:ext cx="4023300" cy="1783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320040" y="2971800"/>
            <a:ext cx="63900" cy="1783200"/>
          </a:xfrm>
          <a:prstGeom prst="rect">
            <a:avLst/>
          </a:prstGeom>
          <a:solidFill>
            <a:srgbClr val="43A047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02920" y="310896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A04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3A047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02920" y="3474720"/>
            <a:ext cx="37491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Ridge Regression and Gradient Boosting from sklearn. StandardScaler for normalization. train_test_split for honest evaluation.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663440" y="2971800"/>
            <a:ext cx="4023300" cy="1783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663440" y="2971800"/>
            <a:ext cx="63900" cy="1783200"/>
          </a:xfrm>
          <a:prstGeom prst="rect">
            <a:avLst/>
          </a:prstGeom>
          <a:solidFill>
            <a:srgbClr val="AB47BC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846320" y="310896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Prior ML-in-Finance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846320" y="3474720"/>
            <a:ext cx="37491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hown return-based targets outperform price-based targets. IQR clipping for outlier handling is standard in quant pipelines.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20040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320040" y="1051560"/>
            <a:ext cx="1298448" cy="6858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320040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84048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Fetch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84048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yfinance pulls OHLCV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for each ticker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618488" y="2697480"/>
            <a:ext cx="137160" cy="54864"/>
          </a:xfrm>
          <a:prstGeom prst="rect">
            <a:avLst/>
          </a:prstGeom>
          <a:solidFill>
            <a:srgbClr val="88888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1755648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755648" y="1051560"/>
            <a:ext cx="1298448" cy="6858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1755648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1819656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Add Indicators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819656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EMA, RSI, MACD, PVT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calculated on Close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054096" y="2697480"/>
            <a:ext cx="137160" cy="54864"/>
          </a:xfrm>
          <a:prstGeom prst="rect">
            <a:avLst/>
          </a:prstGeom>
          <a:solidFill>
            <a:srgbClr val="88888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191256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3191256" y="1051560"/>
            <a:ext cx="1298448" cy="685800"/>
          </a:xfrm>
          <a:prstGeom prst="rect">
            <a:avLst/>
          </a:prstGeom>
          <a:solidFill>
            <a:srgbClr val="DCE8F6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3191256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255264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Build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255264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Price-relative transforms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+ IQR outlier clip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489704" y="2697480"/>
            <a:ext cx="137160" cy="54864"/>
          </a:xfrm>
          <a:prstGeom prst="rect">
            <a:avLst/>
          </a:prstGeom>
          <a:solidFill>
            <a:srgbClr val="88888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626864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4626864" y="1051560"/>
            <a:ext cx="1298448" cy="685800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626864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690872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A896"/>
                </a:solidFill>
                <a:latin typeface="Calibri"/>
                <a:ea typeface="Calibri"/>
                <a:cs typeface="Calibri"/>
                <a:sym typeface="Calibri"/>
              </a:rPr>
              <a:t>Train/Test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690872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80% in-sample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20% out-of-sample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925312" y="2697480"/>
            <a:ext cx="137160" cy="54864"/>
          </a:xfrm>
          <a:prstGeom prst="rect">
            <a:avLst/>
          </a:prstGeom>
          <a:solidFill>
            <a:srgbClr val="88888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062472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6062472" y="1051560"/>
            <a:ext cx="1298448" cy="6858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6062472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126480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Fit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126480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Linear Reg + Ridge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+ Gradient Boost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360920" y="2697480"/>
            <a:ext cx="137160" cy="54864"/>
          </a:xfrm>
          <a:prstGeom prst="rect">
            <a:avLst/>
          </a:prstGeom>
          <a:solidFill>
            <a:srgbClr val="88888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7498080" y="1051560"/>
            <a:ext cx="1298448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7498080" y="1051560"/>
            <a:ext cx="1298448" cy="685800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498080" y="10515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562088" y="1828800"/>
            <a:ext cx="11704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7562088" y="2331720"/>
            <a:ext cx="1170432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Roll indicators forward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5-day prediction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Steps 1 &amp; 2  —  Data Fetching  &amp;  Technical Indicators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65760" y="1051560"/>
            <a:ext cx="3931920" cy="38404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48640" y="117043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Step 1 — What yfinance gives 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8"/>
          <p:cNvGraphicFramePr/>
          <p:nvPr/>
        </p:nvGraphicFramePr>
        <p:xfrm>
          <a:off x="50292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{F7EFFA54-550C-4120-857A-8A6ACE27388F}</a:tableStyleId>
              </a:tblPr>
              <a:tblGrid>
                <a:gridCol w="1371600"/>
                <a:gridCol w="2286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at market open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price of the day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Lowest price of the day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at market close ← target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shares traded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8"/>
          <p:cNvSpPr/>
          <p:nvPr/>
        </p:nvSpPr>
        <p:spPr>
          <a:xfrm>
            <a:off x="502920" y="4617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Source: yfinance  ·  auto_adjust=True  ·  daily frequency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480560" y="1051560"/>
            <a:ext cx="4389120" cy="38404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4663440" y="1170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Step 2 — Indicators calculated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617720" y="1627632"/>
            <a:ext cx="54864" cy="50292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754880" y="16642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 9/21/50/200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754880" y="190195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Trend direction at 4 timeframes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617720" y="2286000"/>
            <a:ext cx="54864" cy="50292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754880" y="232257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RSI (14)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754880" y="256032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Momentum: overbought &gt;70, oversold &lt;30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617720" y="2944368"/>
            <a:ext cx="54864" cy="502920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4754880" y="298094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6A69A"/>
                </a:solidFill>
                <a:latin typeface="Consolas"/>
                <a:ea typeface="Consolas"/>
                <a:cs typeface="Consolas"/>
                <a:sym typeface="Consolas"/>
              </a:rPr>
              <a:t>MACD (12/26/9)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754880" y="321868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Trend-following crossover signal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4617720" y="3602736"/>
            <a:ext cx="54864" cy="502920"/>
          </a:xfrm>
          <a:prstGeom prst="rect">
            <a:avLst/>
          </a:prstGeom>
          <a:solidFill>
            <a:srgbClr val="FFA72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4754880" y="36393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726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MACD Histogram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754880" y="3877056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Speed of MACD convergence/divergence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4617720" y="4261104"/>
            <a:ext cx="54864" cy="502920"/>
          </a:xfrm>
          <a:prstGeom prst="rect">
            <a:avLst/>
          </a:prstGeom>
          <a:solidFill>
            <a:srgbClr val="AB47BC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4754880" y="4297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AB47BC"/>
                </a:solidFill>
                <a:latin typeface="Consolas"/>
                <a:ea typeface="Consolas"/>
                <a:cs typeface="Consolas"/>
                <a:sym typeface="Consolas"/>
              </a:rPr>
              <a:t>PVT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754880" y="4535424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Volume-confirmed price moves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Step 3  —  Feature Selection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457200" y="10058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We need features that are (a) predictive of future returns and (b) comparable across AAPL, TSLA, GOOGL etc.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65760" y="1463040"/>
            <a:ext cx="2743200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365760" y="1463040"/>
            <a:ext cx="2743200" cy="41148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457200" y="15270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Trend Features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75488" y="1993392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EMA9_dist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75488" y="223113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% above/below 9-day trend → short-term momentum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75488" y="2569464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EMA21_dist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75488" y="280720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% above/below 21-day trend → medium momentum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75488" y="3145536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EMA50_dist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75488" y="33832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% above/below 50-day trend → swing level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475488" y="3721608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EMA200_dist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75488" y="395935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% above/below 200-day trend → bull/bear regime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75488" y="4297680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zscore_20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75488" y="4535424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Std devs from 20-day mean → mean reversion signal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246120" y="1463040"/>
            <a:ext cx="2743200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3246120" y="1463040"/>
            <a:ext cx="2743200" cy="41148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3337560" y="15270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Momentum Features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355848" y="1993392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return_1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3355848" y="223113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Yesterday's return → short-term continuation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355848" y="2569464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return_3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355848" y="280720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3-day return → early trend confirmation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355848" y="3145536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return_5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355848" y="33832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Weekly return → medium momentum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355848" y="3721608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return_10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3355848" y="395935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2-week return → extended trend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355848" y="4297680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return_20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3355848" y="4535424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Monthly return → regime momentum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126480" y="1463040"/>
            <a:ext cx="2743200" cy="3520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217920" y="15270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Volatility &amp; Volume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6236208" y="1993392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vol_5/10/20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236208" y="2231136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Rolling std at 3 windows → volatility regime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236208" y="2569464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vol_regime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6236208" y="2807208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vol_5 / vol_20 → fear spike detector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236208" y="3145536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rsi_dist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236208" y="33832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RSI - 50 → distance from neutral momentum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236208" y="3721608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rsi_change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6236208" y="3959352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RSI 3-day diff → momentum acceleration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6236208" y="4297680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macd_cross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236208" y="4535424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MACD−Signal / price → trend flip signal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Why Price-Relative Features?  —  Cross-Ticker Comparability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365760" y="1051560"/>
            <a:ext cx="91440" cy="1097280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594360" y="11155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 xml:space="preserve"> The Problem with Raw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594360" y="146304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If we use raw EMA values, the model sees TSLA's EMA200 ≈ $280 and AAPL's EMA200 ≈ $190. It learns "TSLA is bigger" not "price is above trend" — useless cross-ticker signal.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594360" y="239572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The Solution — EMA Distance (%)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94360" y="274320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EMA200_dist  =  (Close − EMA200) / EMA200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94360" y="3090672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Now +3% means "price is 3% above its 200-day average" for ANY stock. TSLA at +3% and AAPL at +3% mean the same thing to the model.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Example — same formula, different stocks, comparable output: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57200" y="4069080"/>
            <a:ext cx="2606040" cy="82296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66928" y="41330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AAPL  Close: $192  EMA200: $187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66928" y="44256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EMA200_dist = +2.7%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291840" y="4069080"/>
            <a:ext cx="2606040" cy="82296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3401568" y="41330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TSLA  Close: $285  EMA200: $271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3401568" y="44256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EMA200_dist = +5.2%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126480" y="4069080"/>
            <a:ext cx="2606040" cy="82296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6236208" y="41330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NVDA  Close: $138  EMA200: $122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236208" y="442569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72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EMA200_dist = +13.1%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Outlier Removal  (IQR Clipping)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65760" y="1051560"/>
            <a:ext cx="4023360" cy="20116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Why remove outliers?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30352" y="1536192"/>
            <a:ext cx="73152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685800" y="151790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Earnings gaps can be ±15% in one day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30352" y="1883664"/>
            <a:ext cx="73152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685800" y="18653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Flash crashes create extreme volume spikes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30352" y="2231136"/>
            <a:ext cx="73152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685800" y="22128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These rare events skew model weights badly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530352" y="2578608"/>
            <a:ext cx="73152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685800" y="256032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learns the exception not the rule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663440" y="1051560"/>
            <a:ext cx="4114800" cy="20116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How IQR clipping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846320" y="1536192"/>
            <a:ext cx="37490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Q1  =  25th percentile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Q3  =  75th percentile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IQR =  Q3 − Q1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Clip to: [</a:t>
            </a:r>
            <a:r>
              <a:rPr lang="en-US" sz="1200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Q1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 xml:space="preserve"> − 1.5×IQR ,  Q3 + 1.5×IQR ]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365760" y="3200400"/>
            <a:ext cx="8412480" cy="6858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548640" y="33101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Rows are KEPT</a:t>
            </a:r>
            <a:r>
              <a:rPr b="1" lang="en-US" sz="1300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—only</a:t>
            </a:r>
            <a:r>
              <a:rPr b="1" i="0" lang="en-US" sz="13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 xml:space="preserve"> extreme values are trimmed to the boundary. No data is lost.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57200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Features clipped: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57200" y="43434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return_1   return_3   return_5   return_10   return_20   vol_5   vol_10   vol_20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457200" y="46177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41E3C"/>
                </a:solidFill>
                <a:latin typeface="Consolas"/>
                <a:ea typeface="Consolas"/>
                <a:cs typeface="Consolas"/>
                <a:sym typeface="Consolas"/>
              </a:rPr>
              <a:t>vol_regime   zscore_20   rsi_change   macd_norm   macd_cross   macd_hist_chg   vol_ratio   hl_range</a:t>
            </a:r>
            <a:endParaRPr b="0" i="0" sz="10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Feature Re-scaling  (StandardScaler)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365760" y="1051560"/>
            <a:ext cx="91440" cy="118872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594360" y="11155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StandardScaler Formula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94360" y="1444752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z  =  ( x − μ ) / σ</a:t>
            </a:r>
            <a:r>
              <a:rPr b="1" lang="en-US" sz="16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 xml:space="preserve">, </a:t>
            </a:r>
            <a:r>
              <a:rPr b="1" i="0" lang="en-US" sz="16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where μ = mean of training set,  σ = std dev of training 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365760" y="2423160"/>
            <a:ext cx="502920" cy="77724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365760" y="242316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1005840" y="2478024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Equal weight for all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1005840" y="278892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vol_10 ≈ 0.015 and RSI ≈ 45 are very different scales. Without scaling the model weights RSI 3000x more just because the number is bigger — not because it's more predictive.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365760" y="3310128"/>
            <a:ext cx="8412480" cy="7772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365760" y="3310128"/>
            <a:ext cx="502920" cy="77724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365760" y="3310128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1005840" y="3364992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Fit on train, apply to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005840" y="3675888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We compute μ and σ from the 80% training set only. The test set uses the same μ and σ — never its own. This prevents information leakage from future data into the scaler.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365760" y="4197096"/>
            <a:ext cx="8412480" cy="77724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365760" y="4197096"/>
            <a:ext cx="502920" cy="777240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365760" y="4197096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1005840" y="425196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Reusable across tickers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1005840" y="4562856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same scaler fitted on Mag 7 training data is applied to any new ticker. Since all features are price-relative (%), the scale is already normalized before StandardScaler runs.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Step 4  —  Train / Test Split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457200" y="1188720"/>
            <a:ext cx="6583680" cy="502920"/>
          </a:xfrm>
          <a:prstGeom prst="rect">
            <a:avLst/>
          </a:prstGeom>
          <a:solidFill>
            <a:srgbClr val="29B6F6">
              <a:alpha val="85098"/>
            </a:srgbClr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7040880" y="1188720"/>
            <a:ext cx="1645920" cy="502920"/>
          </a:xfrm>
          <a:prstGeom prst="rect">
            <a:avLst/>
          </a:prstGeom>
          <a:solidFill>
            <a:srgbClr val="F5A623">
              <a:alpha val="85098"/>
            </a:srgbClr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594360" y="11887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Training Set  (80%)  — Jan 2023 → ~Oct 2025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7059168" y="1188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Test (20%)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457200" y="1737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Jan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6309360" y="1737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~Oct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8046720" y="17373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Jan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65760" y="2148840"/>
            <a:ext cx="4023360" cy="26974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365760" y="2148840"/>
            <a:ext cx="4023360" cy="41148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502920" y="21762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In-Sample (Training 80%)</a:t>
            </a:r>
            <a:endParaRPr b="0" i="0" sz="1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02920" y="2697480"/>
            <a:ext cx="109728" cy="256032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685800" y="267919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sees this data during training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02920" y="3081528"/>
            <a:ext cx="109728" cy="256032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685800" y="306324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Scaler μ and σ computed here only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502920" y="3465576"/>
            <a:ext cx="109728" cy="256032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685800" y="344728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Model parameters fit to this set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02920" y="3849624"/>
            <a:ext cx="109728" cy="256032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685800" y="383133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Performance here is always optimistic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502920" y="4233672"/>
            <a:ext cx="109728" cy="256032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685800" y="42153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Used to learn patterns in the data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4663440" y="2148840"/>
            <a:ext cx="4114800" cy="26974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663440" y="2148840"/>
            <a:ext cx="4114800" cy="41148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4800600" y="21762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Out-of-Sample (Test 20%)</a:t>
            </a:r>
            <a:endParaRPr b="0" i="0" sz="14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4800600" y="2697480"/>
            <a:ext cx="109728" cy="256032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4983480" y="2679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never sees this during training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4800600" y="3081528"/>
            <a:ext cx="109728" cy="256032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4983480" y="30632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Scaler applied using train μ and σ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4800600" y="3465576"/>
            <a:ext cx="109728" cy="256032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4983480" y="34472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Honest measure of generalization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4800600" y="3849624"/>
            <a:ext cx="109728" cy="256032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4983480" y="383133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MAE and R² reported from here only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4800600" y="4233672"/>
            <a:ext cx="109728" cy="256032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4983480" y="421538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Mimics real-world unseen future data</a:t>
            </a:r>
            <a:endParaRPr b="0" i="0" sz="12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 xml:space="preserve">  shuffle=False is critical — keeps time order intact. Shuffling would leak future data into training (look-ahead bias).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AB47BC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Step 5  —  Three Models  &amp;  Why Each One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320040" y="1051560"/>
            <a:ext cx="2743200" cy="3886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320040" y="1051560"/>
            <a:ext cx="2743200" cy="4572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411480" y="10789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411480" y="16002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29B6F6"/>
                </a:solidFill>
                <a:latin typeface="Consolas"/>
                <a:ea typeface="Consolas"/>
                <a:cs typeface="Consolas"/>
                <a:sym typeface="Consolas"/>
              </a:rPr>
              <a:t>ŷ = β₀ + β₁x₁ + β₂x₂ + ... + βₙxₙ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411480" y="20848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411480" y="2359152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576072" y="234086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Interpretable coefficients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411480" y="2660904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576072" y="264261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Fast to train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411480" y="2962656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576072" y="29443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Baseline benchmark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411480" y="3291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411480" y="3566160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576072" y="354787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Can overfit with correlated features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411480" y="3867912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576072" y="38496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No regularization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393192" y="4434840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→ Baseline</a:t>
            </a:r>
            <a:r>
              <a:rPr b="1" i="1" lang="en-US" sz="1000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—tells</a:t>
            </a:r>
            <a:r>
              <a:rPr b="1" i="1" lang="en-US" sz="10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 xml:space="preserve"> us if relationship is linear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3200400" y="1051560"/>
            <a:ext cx="2743200" cy="3886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3291840" y="10789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3291840" y="16002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Minimize: RSS + λ Σ βᵢ²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3291840" y="20848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3291840" y="2359152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3456432" y="234086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Handles correlated features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291840" y="2660904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3456432" y="264261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Shrinks large coefficients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3291840" y="2962656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3456432" y="29443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Stable cross-ticker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291840" y="3291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3291840" y="3566160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3456432" y="354787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Keeps all features (no sparsity)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3291840" y="3867912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3456432" y="38496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Requires tuning λ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3273552" y="4434840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→ Cross-ticker model — best for Mag 7 combined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6080760" y="1051560"/>
            <a:ext cx="2743200" cy="38862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6080760" y="1051560"/>
            <a:ext cx="2743200" cy="457200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6172200" y="107899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13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6172200" y="16002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F(x) = Σ γₜ hₜ(x)  (300 trees)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6172200" y="20848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Strengths: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6172200" y="2359152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6336792" y="234086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Captures nonlinear patterns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6172200" y="2660904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6336792" y="2642616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Handles interactions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6172200" y="2962656"/>
            <a:ext cx="91440" cy="20116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6336792" y="294436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Best single-ticker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6172200" y="3291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6172200" y="3566160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6336792" y="354787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Slower to train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6172200" y="3867912"/>
            <a:ext cx="91440" cy="20116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6336792" y="38496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More hyperparameters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6153912" y="4434840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→ Single-ticker model — highest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Target Variable  &amp;  Model Evaluation Metrics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365760" y="1051560"/>
            <a:ext cx="8412480" cy="141732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5"/>
          <p:cNvSpPr/>
          <p:nvPr/>
        </p:nvSpPr>
        <p:spPr>
          <a:xfrm>
            <a:off x="365760" y="1051560"/>
            <a:ext cx="91440" cy="141732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594360" y="111556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Target: Next-Day % Return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594360" y="148132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target  =  Close(t+1) / Close(t)  − 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594360" y="187452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Returns are stationary and comparable across tickers. Raw prices drift over time and would make the model learn price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levels,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not patterns.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365760" y="2606040"/>
            <a:ext cx="8412480" cy="10972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5"/>
          <p:cNvSpPr/>
          <p:nvPr/>
        </p:nvSpPr>
        <p:spPr>
          <a:xfrm>
            <a:off x="365760" y="2606040"/>
            <a:ext cx="91440" cy="109728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594360" y="2670048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MAE  (Mean Absolute Error)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94360" y="29900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MAE  =  (1/n) Σ |actual − predicted|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4754880" y="267919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Average dollar (or %) error per prediction. Reported in % for return predictions.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4754880" y="313639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Lower is better. ~0.8–1.5% is realistic for daily stock returns.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/>
          <p:nvPr/>
        </p:nvSpPr>
        <p:spPr>
          <a:xfrm>
            <a:off x="365760" y="3840480"/>
            <a:ext cx="91440" cy="109728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5"/>
          <p:cNvSpPr/>
          <p:nvPr/>
        </p:nvSpPr>
        <p:spPr>
          <a:xfrm>
            <a:off x="594360" y="3904488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R²  (Coefficient of Determination)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594360" y="422452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R²  =  1  −  SS_res / SS_tot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4754880" y="391363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What fraction of variance in returns the model explains. On returns, near 0 is normal and honest.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4754880" y="437083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R² near 0 on daily returns = efficient market. Negative R² = model worse than mean.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Results </a:t>
            </a:r>
            <a:r>
              <a:rPr b="1" lang="en-US" sz="28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– </a:t>
            </a: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Single-Ticker vs Mag 7 Combined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7" name="Google Shape;477;p26"/>
          <p:cNvGraphicFramePr/>
          <p:nvPr/>
        </p:nvGraphicFramePr>
        <p:xfrm>
          <a:off x="36576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{F7EFFA54-550C-4120-857A-8A6ACE27388F}</a:tableStyleId>
              </a:tblPr>
              <a:tblGrid>
                <a:gridCol w="1005850"/>
                <a:gridCol w="1371600"/>
                <a:gridCol w="914400"/>
                <a:gridCol w="1371600"/>
                <a:gridCol w="914400"/>
                <a:gridCol w="10058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Ticker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 MAE (%)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 R²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 MAE (%)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 R²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Winner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5A9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AAPL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0.9926%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0.0012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0.9284%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0.0184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MSFT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0.8144%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-0.0415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0.8047%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-0.0075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1.3728%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-0.1933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1.2759%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0.0099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AMZN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1.3580%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-0.0442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1.3281%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-0.0132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NVDA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1.7577%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-0.2001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1.5274%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0.0284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1.4794%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-0.1614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1.3644%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-0.0541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TSLA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2.4723%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-0.0647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2.3298%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0.0298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ADCF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 xml:space="preserve">B </a:t>
                      </a:r>
                      <a:endParaRPr sz="1200" u="none" cap="none" strike="noStrike">
                        <a:solidFill>
                          <a:srgbClr val="141E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8" name="Google Shape;478;p26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F2F4F8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Strategy B wins 7/7 tickers</a:t>
            </a:r>
            <a:r>
              <a:rPr b="1" lang="en-US" sz="1300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—cross-ticker</a:t>
            </a:r>
            <a:r>
              <a:rPr b="1" i="0" lang="en-US" sz="13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 xml:space="preserve"> patterns from Mag 7 training improve generalization on every stock.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502920" y="502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502920" y="13258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886968" y="1234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Price-relative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886968" y="15361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EMA distance %, returns, vol ratios make the model ticker-agnostic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solidFill>
            <a:srgbClr val="F5A623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88696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IQR clipping preserves rows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886968" y="2148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Extreme earnings gaps clipped to boundary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—no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data lost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502920" y="2551176"/>
            <a:ext cx="292608" cy="292608"/>
          </a:xfrm>
          <a:prstGeom prst="rect">
            <a:avLst/>
          </a:prstGeom>
          <a:solidFill>
            <a:srgbClr val="DCE8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502920" y="25511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886968" y="245973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6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A69A"/>
                </a:solidFill>
                <a:latin typeface="Calibri"/>
                <a:ea typeface="Calibri"/>
                <a:cs typeface="Calibri"/>
                <a:sym typeface="Calibri"/>
              </a:rPr>
              <a:t>StandardScaler on train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886968" y="27614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scaler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fit on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80% of the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training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data and was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applied to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test—no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leakage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502920" y="3163824"/>
            <a:ext cx="292608" cy="292608"/>
          </a:xfrm>
          <a:prstGeom prst="rect">
            <a:avLst/>
          </a:prstGeom>
          <a:solidFill>
            <a:srgbClr val="EF5350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502920" y="31638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886968" y="30723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shuffle=False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886968" y="337413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Time order is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preserved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—the</a:t>
            </a: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 future never leaks into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the past.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502920" y="3776472"/>
            <a:ext cx="292608" cy="292608"/>
          </a:xfrm>
          <a:prstGeom prst="rect">
            <a:avLst/>
          </a:prstGeom>
          <a:solidFill>
            <a:srgbClr val="AB47BC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02920" y="37764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886968" y="36850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B47BC"/>
                </a:solidFill>
                <a:latin typeface="Calibri"/>
                <a:ea typeface="Calibri"/>
                <a:cs typeface="Calibri"/>
                <a:sym typeface="Calibri"/>
              </a:rPr>
              <a:t>Ridge beats Linear for Mag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886968" y="39867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Regularization handles correlated features across stocks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502920" y="4389120"/>
            <a:ext cx="292608" cy="292608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502920" y="43891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886968" y="4297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>The combined</a:t>
            </a:r>
            <a:r>
              <a:rPr b="1" i="0" lang="en-US" sz="1300" u="none" cap="none" strike="noStrike">
                <a:solidFill>
                  <a:srgbClr val="29B6F6"/>
                </a:solidFill>
                <a:latin typeface="Calibri"/>
                <a:ea typeface="Calibri"/>
                <a:cs typeface="Calibri"/>
                <a:sym typeface="Calibri"/>
              </a:rPr>
              <a:t xml:space="preserve"> model wins 7/7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886968" y="45994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 xml:space="preserve">Cross-stock patterns generalize better than </a:t>
            </a:r>
            <a:r>
              <a:rPr lang="en-US" sz="1100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single tickers.</a:t>
            </a:r>
            <a:endParaRPr b="0" i="0" sz="11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29B6F6"/>
          </a:solidFill>
          <a:ln cap="flat" cmpd="sng" w="15250">
            <a:solidFill>
              <a:srgbClr val="385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50292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41E3C"/>
                </a:solidFill>
                <a:latin typeface="Calibri"/>
                <a:ea typeface="Calibri"/>
                <a:cs typeface="Calibri"/>
                <a:sym typeface="Calibri"/>
              </a:rPr>
              <a:t>Challenges We Overcame</a:t>
            </a:r>
            <a:endParaRPr b="0" i="0" sz="2800" u="none" cap="none" strike="noStrike">
              <a:solidFill>
                <a:srgbClr val="141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7" name="Google Shape;477;p26"/>
          <p:cNvGraphicFramePr/>
          <p:nvPr/>
        </p:nvGraphicFramePr>
        <p:xfrm>
          <a:off x="365760" y="1000000"/>
          <a:ext cx="8412480" cy="3800000"/>
        </p:xfrm>
        <a:graphic>
          <a:graphicData uri="http://schemas.openxmlformats.org/drawingml/2006/table">
            <a:tbl>
              <a:tblPr>
                <a:noFill/>
                <a:tableStyleId>{F7EFFA54-550C-4120-857A-8A6ACE27388F}</a:tableStyleId>
              </a:tblPr>
              <a:tblGrid>
                <a:gridCol w="3200000"/>
                <a:gridCol w="5212480"/>
              </a:tblGrid>
              <a:tr h="4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385A9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How We Solved It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385A94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Data leakage risk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Used shuffle=False on the train/test split to keep time order intact. Shuffling would allow the model to “see” future data during training.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Correlated features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Multiple EMAs move together, causing instability in plain Linear Regression. Switched to Ridge to shrink correlated coefficients via L2 regularization.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F2F4F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Cross-ticker comparability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Raw EMA values differ hugely across stocks. Converted all features to price-relative % so AAPL at +3% and TSLA at +3% mean the same thing to the model.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Outliers (earnings gaps, flash crashes)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Extreme one-day moves skewed model weights. Applied IQR clipping (1.5x) to trim extreme values to boundary — no data rows were lost.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  <a:solidFill>
                      <a:srgbClr val="F2F4F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Misleading R² on raw price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41E3C"/>
                          </a:solidFill>
                          <a:latin typeface="Calibri"/>
                        </a:rPr>
                        <a:t>R² on raw price looks impressive but is misleading. Switched the prediction target to next-day % return for an honest, scale-invariant evaluation.</a:t>
                      </a:r>
                    </a:p>
                  </a:txBody>
                  <a:tcPr marT="45725" marB="45725" marR="91450" marL="91450">
                    <a:lnL w="12700" cmpd="sng">
                      <a:solidFill>
                        <a:srgbClr val="333333"/>
                      </a:solidFill>
                      <a:prstDash val="solid"/>
                    </a:lnL>
                    <a:lnR w="12700" cmpd="sng">
                      <a:solidFill>
                        <a:srgbClr val="333333"/>
                      </a:solidFill>
                      <a:prstDash val="solid"/>
                    </a:lnR>
                    <a:lnT w="12700" cmpd="sng">
                      <a:solidFill>
                        <a:srgbClr val="333333"/>
                      </a:solidFill>
                      <a:prstDash val="solid"/>
                    </a:lnT>
                    <a:lnB w="12700" cmpd="sng">
                      <a:solidFill>
                        <a:srgbClr val="333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